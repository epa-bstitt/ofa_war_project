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PA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63A5F"/>
          </a:solidFill>
          <a:ln w="12700">
            <a:solidFill>
              <a:srgbClr val="16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601968"/>
            <a:ext cx="6949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EPABusinessPlatform | Weekly Activity Report Modernization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38912"/>
            <a:ext cx="6492240" cy="5440680"/>
          </a:xfrm>
          <a:prstGeom prst="roundRect">
            <a:avLst>
              <a:gd name="adj" fmla="val 1345"/>
            </a:avLst>
          </a:prstGeom>
          <a:solidFill>
            <a:srgbClr val="EEF4F7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80467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Brief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114300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EPABusinessPlatform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1783080"/>
            <a:ext cx="5303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Modernizing the Weekly Activity Report workflow with Teams-native capture, AI-powered terse conversion, and seamless OneNote delivery.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4672" y="2816352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96265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 hrs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9264" y="3346704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work per week today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78608" y="2816352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0" y="296265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0" y="3346704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contributors in each cycle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52544" y="2816352"/>
            <a:ext cx="155448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2962656"/>
            <a:ext cx="12252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F85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&lt; 2 min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17136" y="3346704"/>
            <a:ext cx="1225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submission time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" y="416052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from the February 9, 2026 product brief for ITSB leadership modernization planning.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9480" y="566928"/>
            <a:ext cx="4343400" cy="5440680"/>
          </a:xfrm>
          <a:prstGeom prst="roundRect">
            <a:avLst>
              <a:gd name="adj" fmla="val 1684"/>
            </a:avLst>
          </a:prstGeom>
          <a:solidFill>
            <a:srgbClr val="EEF4F7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70648" y="749808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image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470648" y="1042416"/>
            <a:ext cx="3941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illustration embedded in the deck</a:t>
            </a:r>
            <a:endParaRPr lang="en-US" sz="105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52360" y="1435608"/>
            <a:ext cx="3977640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current WAR process burns leadership time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user groups absorb friction from the same broken manual workflow.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DE7DA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039112"/>
            <a:ext cx="73152" cy="168249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2039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41832" y="2386584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Copy-paste previous entries, navigate a growing OneNote, format by hand, and submit without reliable reminders.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880360" y="187452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FFF4D6"/>
          </a:solidFill>
          <a:ln w="12700">
            <a:solidFill>
              <a:srgbClr val="C48A00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17520" y="2039112"/>
            <a:ext cx="73152" cy="1682496"/>
          </a:xfrm>
          <a:prstGeom prst="rect">
            <a:avLst/>
          </a:prstGeom>
          <a:solidFill>
            <a:srgbClr val="C48A00"/>
          </a:solidFill>
          <a:ln w="12700">
            <a:solidFill>
              <a:srgbClr val="C48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2112" y="2039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Jake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182112" y="2386584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Spends about 15 hours per week chasing non-respondents, reformatting updates, and assembling leadership-ready output.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20640" y="1874520"/>
            <a:ext cx="2057400" cy="2011680"/>
          </a:xfrm>
          <a:prstGeom prst="roundRect">
            <a:avLst>
              <a:gd name="adj" fmla="val 3636"/>
            </a:avLst>
          </a:prstGeom>
          <a:solidFill>
            <a:srgbClr val="EEF4F7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257800" y="2039112"/>
            <a:ext cx="73152" cy="168249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2392" y="203911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22392" y="2386584"/>
            <a:ext cx="1645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Reviews inconsistent inputs, lacks historical trend visibility, and has no easy way to filter for the latest two-week window.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640080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hours per week are consumed by manual administration.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Formatting inconsistency reduces readability for senior management.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Broken SharePoint automation left no dependable replacement path.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Verbose submissions bury the small number of facts leaders actually need.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52360" y="777240"/>
            <a:ext cx="4160520" cy="5349240"/>
          </a:xfrm>
          <a:prstGeom prst="roundRect">
            <a:avLst>
              <a:gd name="adj" fmla="val 1758"/>
            </a:avLst>
          </a:prstGeom>
          <a:solidFill>
            <a:srgbClr val="EEF4F7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53528" y="96012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Pain map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53528" y="1252728"/>
            <a:ext cx="3758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Current-state friction across contributors, aggregator, and reviewer</a:t>
            </a:r>
            <a:endParaRPr lang="en-US" sz="10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5240" y="1645920"/>
            <a:ext cx="3794760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Teams-to-AI-to-OneNote operating model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keeps executive consumption stable while modernizing everything upstream.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828800"/>
            <a:ext cx="630936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Frictionless capture: `/war` slash commands, adaptive cards, and pre-populated context reduce blank-page anxiety.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processing: AI converts verbose updates into terse executive-ready bullets while preserving raw detail.</a:t>
            </a:r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Seamless integration: Jake and Will review in the web app, then Microsoft Graph publishes to the existing OneNote workflow.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13232" y="36576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EEF4F7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3822192"/>
            <a:ext cx="73152" cy="108813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38221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Differentiator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4984" y="4169664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Teams-native capture meets contributors where they already work.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0" y="36576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E8F5EE"/>
          </a:solidFill>
          <a:ln w="12700">
            <a:solidFill>
              <a:srgbClr val="2F855A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80360" y="3822192"/>
            <a:ext cx="73152" cy="1088136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44952" y="38221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Differentiator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44952" y="4169664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terse conversion removes manual editing from the critical path.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73168" y="36576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FFF4D6"/>
          </a:solidFill>
          <a:ln w="12700">
            <a:solidFill>
              <a:srgbClr val="C48A00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10328" y="3822192"/>
            <a:ext cx="73152" cy="1088136"/>
          </a:xfrm>
          <a:prstGeom prst="rect">
            <a:avLst/>
          </a:prstGeom>
          <a:solidFill>
            <a:srgbClr val="C48A00"/>
          </a:solidFill>
          <a:ln w="12700">
            <a:solidFill>
              <a:srgbClr val="C48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82219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Differentiator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074920" y="4169664"/>
            <a:ext cx="1508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OneNote remains the endpoint, so executive consumers see zero workflow disruption.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52360" y="777240"/>
            <a:ext cx="4160520" cy="5349240"/>
          </a:xfrm>
          <a:prstGeom prst="roundRect">
            <a:avLst>
              <a:gd name="adj" fmla="val 1758"/>
            </a:avLst>
          </a:prstGeom>
          <a:solidFill>
            <a:srgbClr val="EEF4F7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53528" y="96012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Operating model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53528" y="1252728"/>
            <a:ext cx="3758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Capture, process, and deliver as a single controlled pipeline</a:t>
            </a:r>
            <a:endParaRPr lang="en-US" sz="10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5240" y="1645920"/>
            <a:ext cx="3794760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Four audiences, one shared platform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user experiences a different benefit, but the product succeeds only if all four do.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78308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EEF4F7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947672"/>
            <a:ext cx="73152" cy="90525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476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Contributors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29514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 a fast submission flow inside Teams, with AI support and no blank-page friction.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" y="315468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E8F5EE"/>
          </a:solidFill>
          <a:ln w="12700">
            <a:solidFill>
              <a:srgbClr val="2F855A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95528" y="3319272"/>
            <a:ext cx="73152" cy="905256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3192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Jake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366674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visibility, automation, and elimination of the 'herding cats' burden.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913632" y="178308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FF4D6"/>
          </a:solidFill>
          <a:ln w="12700">
            <a:solidFill>
              <a:srgbClr val="C48A00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50792" y="1947672"/>
            <a:ext cx="73152" cy="905256"/>
          </a:xfrm>
          <a:prstGeom prst="rect">
            <a:avLst/>
          </a:prstGeom>
          <a:solidFill>
            <a:srgbClr val="C48A00"/>
          </a:solidFill>
          <a:ln w="12700">
            <a:solidFill>
              <a:srgbClr val="C48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5384" y="19476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215384" y="229514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concise review views, date filters, and proactive issue detection.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913632" y="315468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FDE7DA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50792" y="3319272"/>
            <a:ext cx="73152" cy="90525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15384" y="3319272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Senior management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215384" y="3666744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the same familiar OneNote consumption pattern with cleaner, more consistent content.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452360" y="777240"/>
            <a:ext cx="4160520" cy="5349240"/>
          </a:xfrm>
          <a:prstGeom prst="roundRect">
            <a:avLst>
              <a:gd name="adj" fmla="val 1758"/>
            </a:avLst>
          </a:prstGeom>
          <a:solidFill>
            <a:srgbClr val="EEF4F7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3528" y="96012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Persona image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653528" y="1252728"/>
            <a:ext cx="3758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Embedded illustration showing the platform's stakeholder map</a:t>
            </a:r>
            <a:endParaRPr lang="en-US" sz="105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5240" y="1645920"/>
            <a:ext cx="3794760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 replaces fragmented handoffs with a guided 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transformation is not new features; it is removing friction at every stage.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" y="1783080"/>
            <a:ext cx="6355080" cy="2148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Reminder: Teams bot prompts instead of passive Outlook appointments.</a:t>
            </a:r>
            <a:pPr indent="0" marL="0">
              <a:buNone/>
            </a:pPr>
            <a:r>
              <a:rPr lang="en-US" sz="132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25" dirty="0"/>
          </a:p>
          <a:p>
            <a:pPr marL="177800" indent="-177800">
              <a:buSzPct val="100000"/>
              <a:buChar char="•"/>
            </a:pPr>
            <a:r>
              <a:rPr lang="en-US" sz="132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Capture: contributors stay inside Teams rather than opening an unwieldy OneNote.</a:t>
            </a:r>
            <a:pPr indent="0" marL="0">
              <a:buNone/>
            </a:pPr>
            <a:r>
              <a:rPr lang="en-US" sz="132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25" dirty="0"/>
          </a:p>
          <a:p>
            <a:pPr marL="177800" indent="-177800">
              <a:buSzPct val="100000"/>
              <a:buChar char="•"/>
            </a:pPr>
            <a:r>
              <a:rPr lang="en-US" sz="132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Composition: AI and structured prompts reduce rambling and formatting inconsistency.</a:t>
            </a:r>
            <a:pPr indent="0" marL="0">
              <a:buNone/>
            </a:pPr>
            <a:r>
              <a:rPr lang="en-US" sz="132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25" dirty="0"/>
          </a:p>
          <a:p>
            <a:pPr marL="177800" indent="-177800">
              <a:buSzPct val="100000"/>
              <a:buChar char="•"/>
            </a:pPr>
            <a:r>
              <a:rPr lang="en-US" sz="132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Submission: adaptive cards provide instant confirmation and structured intake.</a:t>
            </a:r>
            <a:pPr indent="0" marL="0">
              <a:buNone/>
            </a:pPr>
            <a:r>
              <a:rPr lang="en-US" sz="132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25" dirty="0"/>
          </a:p>
          <a:p>
            <a:pPr marL="177800" indent="-177800">
              <a:buSzPct val="100000"/>
              <a:buChar char="•"/>
            </a:pPr>
            <a:r>
              <a:rPr lang="en-US" sz="132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Review: Jake and Will work from filtered dashboards instead of copy-paste chains.</a:t>
            </a:r>
            <a:endParaRPr lang="en-US" sz="1325" dirty="0"/>
          </a:p>
        </p:txBody>
      </p:sp>
      <p:sp>
        <p:nvSpPr>
          <p:cNvPr id="6" name="Shape 4"/>
          <p:cNvSpPr/>
          <p:nvPr/>
        </p:nvSpPr>
        <p:spPr>
          <a:xfrm>
            <a:off x="713232" y="4206240"/>
            <a:ext cx="2880360" cy="1097280"/>
          </a:xfrm>
          <a:prstGeom prst="roundRect">
            <a:avLst>
              <a:gd name="adj" fmla="val 6667"/>
            </a:avLst>
          </a:prstGeom>
          <a:solidFill>
            <a:srgbClr val="EEF4F7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50392" y="4370832"/>
            <a:ext cx="73152" cy="76809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43708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Contributor aha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4984" y="4718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'I submitted my update without leaving Teams, and the AI made it sound professional.'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03320" y="4206240"/>
            <a:ext cx="2880360" cy="1097280"/>
          </a:xfrm>
          <a:prstGeom prst="roundRect">
            <a:avLst>
              <a:gd name="adj" fmla="val 6667"/>
            </a:avLst>
          </a:prstGeom>
          <a:solidFill>
            <a:srgbClr val="E8F5EE"/>
          </a:solidFill>
          <a:ln w="12700">
            <a:solidFill>
              <a:srgbClr val="2F855A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0" y="4370832"/>
            <a:ext cx="73152" cy="768096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5072" y="43708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Aggregator aha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05072" y="471830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'I went from 15 hours of manual work to reviewing an AI-generated briefing in 15 minutes.'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777240"/>
            <a:ext cx="4160520" cy="5349240"/>
          </a:xfrm>
          <a:prstGeom prst="roundRect">
            <a:avLst>
              <a:gd name="adj" fmla="val 1758"/>
            </a:avLst>
          </a:prstGeom>
          <a:solidFill>
            <a:srgbClr val="EEF4F7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3528" y="96012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Journey image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53528" y="1252728"/>
            <a:ext cx="3758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five-stage transformation from reminder to review</a:t>
            </a:r>
            <a:endParaRPr lang="en-US" sz="10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5240" y="1645920"/>
            <a:ext cx="3794760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business case is time, quality, and reliability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deck focuses on the measures that indicate actual operational change, not vanity metrics.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202082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30 -&gt; &lt; 2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50392" y="2404872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 admin hours per week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18745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202082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6D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 / 19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16352" y="2404872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active users per cycle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1874520"/>
            <a:ext cx="173736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C48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82312" y="2020824"/>
            <a:ext cx="1408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8A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82312" y="2404872"/>
            <a:ext cx="1408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on-time submission rate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246120"/>
            <a:ext cx="635508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Contributors: average submission time drops from 10-15 minutes to under 2 minutes.</a:t>
            </a:r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Jake: weekly WAR administration falls from about 15 hours to under 1 hour over time.</a:t>
            </a:r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Will: executive briefing prep drops from roughly 4 hours to under 15 minutes.</a:t>
            </a:r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System: target uptime exceeds 99.5% with OneNote integration reliability at 99%.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452360" y="777240"/>
            <a:ext cx="4160520" cy="5349240"/>
          </a:xfrm>
          <a:prstGeom prst="roundRect">
            <a:avLst>
              <a:gd name="adj" fmla="val 1758"/>
            </a:avLst>
          </a:prstGeom>
          <a:solidFill>
            <a:srgbClr val="EEF4F7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53528" y="96012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Metrics image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653528" y="1252728"/>
            <a:ext cx="3758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summary of the target operating improvements</a:t>
            </a:r>
            <a:endParaRPr lang="en-US" sz="10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5240" y="1645920"/>
            <a:ext cx="3794760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minimum viable release is still a complete workflow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MVP is not just a form; it includes the end-to-end operating loop.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94944" y="1783080"/>
            <a:ext cx="635508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27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foundation: Cloud.gov hosting, PostgreSQL, and user management for 19 contributors.</a:t>
            </a:r>
            <a:pPr indent="0" marL="0">
              <a:buNone/>
            </a:pPr>
            <a:r>
              <a:rPr lang="en-US" sz="127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75" dirty="0"/>
          </a:p>
          <a:p>
            <a:pPr marL="177800" indent="-177800">
              <a:buSzPct val="100000"/>
              <a:buChar char="•"/>
            </a:pPr>
            <a:r>
              <a:rPr lang="en-US" sz="127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AI-powered submission: Teams bot, terse conversion, raw archive, and editable pre-submission review.</a:t>
            </a:r>
            <a:pPr indent="0" marL="0">
              <a:buNone/>
            </a:pPr>
            <a:r>
              <a:rPr lang="en-US" sz="127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75" dirty="0"/>
          </a:p>
          <a:p>
            <a:pPr marL="177800" indent="-177800">
              <a:buSzPct val="100000"/>
              <a:buChar char="•"/>
            </a:pPr>
            <a:r>
              <a:rPr lang="en-US" sz="127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workflows: Jake and Will each get role-specific review and editing experiences.</a:t>
            </a:r>
            <a:pPr indent="0" marL="0">
              <a:buNone/>
            </a:pPr>
            <a:r>
              <a:rPr lang="en-US" sz="127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75" dirty="0"/>
          </a:p>
          <a:p>
            <a:pPr marL="177800" indent="-177800">
              <a:buSzPct val="100000"/>
              <a:buChar char="•"/>
            </a:pPr>
            <a:r>
              <a:rPr lang="en-US" sz="127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Notifications: scheduled reminders across email and Teams.</a:t>
            </a:r>
            <a:pPr indent="0" marL="0">
              <a:buNone/>
            </a:pPr>
            <a:r>
              <a:rPr lang="en-US" sz="127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75" dirty="0"/>
          </a:p>
          <a:p>
            <a:pPr marL="177800" indent="-177800">
              <a:buSzPct val="100000"/>
              <a:buChar char="•"/>
            </a:pPr>
            <a:r>
              <a:rPr lang="en-US" sz="127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and output: Microsoft Graph prepends final content into senior management's OneNote.</a:t>
            </a:r>
            <a:pPr indent="0" marL="0">
              <a:buNone/>
            </a:pPr>
            <a:r>
              <a:rPr lang="en-US" sz="127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275" dirty="0"/>
          </a:p>
          <a:p>
            <a:pPr marL="177800" indent="-177800">
              <a:buSzPct val="100000"/>
              <a:buChar char="•"/>
            </a:pPr>
            <a:r>
              <a:rPr lang="en-US" sz="1275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 and monitoring: usage metrics and noncompliance visibility.</a:t>
            </a:r>
            <a:endParaRPr lang="en-US" sz="1275" dirty="0"/>
          </a:p>
        </p:txBody>
      </p:sp>
      <p:sp>
        <p:nvSpPr>
          <p:cNvPr id="6" name="Shape 4"/>
          <p:cNvSpPr/>
          <p:nvPr/>
        </p:nvSpPr>
        <p:spPr>
          <a:xfrm>
            <a:off x="749808" y="4681728"/>
            <a:ext cx="2926080" cy="786384"/>
          </a:xfrm>
          <a:prstGeom prst="roundRect">
            <a:avLst>
              <a:gd name="adj" fmla="val 9302"/>
            </a:avLst>
          </a:prstGeom>
          <a:solidFill>
            <a:srgbClr val="FDE7DA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4846320"/>
            <a:ext cx="73152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48463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 of MVP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519379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Bullshit detector, predictive recommendations, voice-to-text, and advanced analytics move to later phases.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749040" y="4681728"/>
            <a:ext cx="2926080" cy="786384"/>
          </a:xfrm>
          <a:prstGeom prst="roundRect">
            <a:avLst>
              <a:gd name="adj" fmla="val 9302"/>
            </a:avLst>
          </a:prstGeom>
          <a:solidFill>
            <a:srgbClr val="E8F5EE"/>
          </a:solidFill>
          <a:ln w="12700">
            <a:solidFill>
              <a:srgbClr val="2F855A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86200" y="4846320"/>
            <a:ext cx="73152" cy="4572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50792" y="4846320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 success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50792" y="519379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contributor adoption, &gt;90% Teams usage, &lt;2 minute submissions, and zero executive workflow disruption.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452360" y="777240"/>
            <a:ext cx="4160520" cy="5349240"/>
          </a:xfrm>
          <a:prstGeom prst="roundRect">
            <a:avLst>
              <a:gd name="adj" fmla="val 1758"/>
            </a:avLst>
          </a:prstGeom>
          <a:solidFill>
            <a:srgbClr val="EEF4F7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53528" y="96012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 image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653528" y="1252728"/>
            <a:ext cx="3758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Architecture-style illustration of the MVP layers</a:t>
            </a:r>
            <a:endParaRPr lang="en-US" sz="105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5240" y="1645920"/>
            <a:ext cx="3794760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D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long-term vision expands from automation to intelligence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6217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sequencing keeps the MVP focused while preserving a credible path to advanced analytics.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58368" y="182880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EEF4F7"/>
          </a:solidFill>
          <a:ln w="12700">
            <a:solidFill>
              <a:srgbClr val="2E6DA4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95528" y="1993392"/>
            <a:ext cx="73152" cy="1499616"/>
          </a:xfrm>
          <a:prstGeom prst="rect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933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2340864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Automate submission, review, reminders, and OneNote publication.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697480" y="182880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E8F5EE"/>
          </a:solidFill>
          <a:ln w="12700">
            <a:solidFill>
              <a:srgbClr val="2F855A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34640" y="1993392"/>
            <a:ext cx="73152" cy="1499616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99232" y="19933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999232" y="2340864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AI stall detection, smart briefing generation, sentiment analysis, and natural-language query patterns.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36592" y="1828800"/>
            <a:ext cx="1828800" cy="1828800"/>
          </a:xfrm>
          <a:prstGeom prst="roundRect">
            <a:avLst>
              <a:gd name="adj" fmla="val 4000"/>
            </a:avLst>
          </a:prstGeom>
          <a:solidFill>
            <a:srgbClr val="FFF4D6"/>
          </a:solidFill>
          <a:ln w="12700">
            <a:solidFill>
              <a:srgbClr val="C48A00"/>
            </a:solidFill>
            <a:prstDash val="solid"/>
          </a:ln>
          <a:effectLst>
            <a:outerShdw sx="100000" sy="100000" kx="0" ky="0" algn="bl" rotWithShape="0" blurRad="25400" dist="50800" dir="2700000">
              <a:srgbClr val="B8C7D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73752" y="1993392"/>
            <a:ext cx="73152" cy="1499616"/>
          </a:xfrm>
          <a:prstGeom prst="rect">
            <a:avLst/>
          </a:prstGeom>
          <a:solidFill>
            <a:srgbClr val="C48A00"/>
          </a:solidFill>
          <a:ln w="12700">
            <a:solidFill>
              <a:srgbClr val="C48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38344" y="199339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38344" y="2340864"/>
            <a:ext cx="1417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into resource balancing, dependency visualization, and cross-team impact analysis.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" y="3977640"/>
            <a:ext cx="630936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2-3 year vision: multi-section EPA deployment and predictive portfolio management.</a:t>
            </a:r>
            <a:pPr indent="0" marL="0">
              <a:buNone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expansion depends on nailing adoption, reliability, and time savings in the first release.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7452360" y="777240"/>
            <a:ext cx="4160520" cy="5349240"/>
          </a:xfrm>
          <a:prstGeom prst="roundRect">
            <a:avLst>
              <a:gd name="adj" fmla="val 1758"/>
            </a:avLst>
          </a:prstGeom>
          <a:solidFill>
            <a:srgbClr val="EEF4F7"/>
          </a:solidFill>
          <a:ln w="12700">
            <a:solidFill>
              <a:srgbClr val="DCEA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53528" y="960120"/>
            <a:ext cx="3758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image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653528" y="1252728"/>
            <a:ext cx="37581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46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 illustration for MVP through long-range vision</a:t>
            </a:r>
            <a:endParaRPr lang="en-US" sz="105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35240" y="1645920"/>
            <a:ext cx="3794760" cy="429768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0352" y="566928"/>
            <a:ext cx="11109960" cy="5394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4672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success factors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68680" y="2788920"/>
            <a:ext cx="5120640" cy="1874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is everything: if contributors do not use it, the rest of the value chain never activates.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must deliver: terse conversion is the core differentiator and cannot feel unreliable.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OneNote integration must be invisible and dependable for senior management.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
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outcome is strategic time reallocation: about 28 hours per week returned to higher-value work.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5440680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_bmad-output/planning-artifacts/product-brief-EPABusinessPlatform-2026-02-09.md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83680"/>
            <a:ext cx="320040" cy="128016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EPA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EPABusinessPlatform Product Brief</dc:title>
  <dc:subject>EPABusinessPlatform Product Brief</dc:subject>
  <dc:creator>GitHub Copilot</dc:creator>
  <cp:lastModifiedBy>GitHub Copilot</cp:lastModifiedBy>
  <cp:revision>1</cp:revision>
  <dcterms:created xsi:type="dcterms:W3CDTF">2026-04-16T18:27:22Z</dcterms:created>
  <dcterms:modified xsi:type="dcterms:W3CDTF">2026-04-16T18:27:22Z</dcterms:modified>
</cp:coreProperties>
</file>